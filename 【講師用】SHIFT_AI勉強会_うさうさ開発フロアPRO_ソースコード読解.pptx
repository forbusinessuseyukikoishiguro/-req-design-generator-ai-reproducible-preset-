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つかみ（1分）：今日は“完成品のソースコードを一緒に読む”会です。題材は私が作った『要件定義＆詳細設計ジェネレーター』。単一HTML1枚・ゼロ依存・オフラインで動く実物です。ゴールは『自分でも同じ作りを再現できる勘所をつかむ』こと。コードを全部覚える必要はありません。設計の“型”を持ち帰ってくださ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進め方の宣言（1分）：前半は概念、中盤でソースの肝を4つ、後半でハンズオンとまとめ。質問は随時OK。『コードは読めなくても設計の意図が分かればいい』と最初に安心させる。受講生に一言：今日いちばん持ち帰ってほしいのは“モデル1つに状態を集める”という考え方、と予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説明（2分）：デモ画面を見せながら。『左で埋めると右がリアルタイムで育つ』のが体験の核。ポイントは“成果物がそのまま印刷・Word・AIに渡せる”こと。受講生が現場で困るのは“設計書を書く気力”なので、そこを下げる道具だと位置づける。Q:『AI無いと使えない？』→A:いいえ、全機能オフラインで動きます（後半で実演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たとえ（2分）：必ず『※このたとえは正確ではありません』と添える＝うさうさ流の作法。文系・新人にも刺さる入口。問いかけ：『曖昧な注文票で困った経験ありますか？』と挙手を促すと場が温まる。実工程は一直線でなく行き来する、と一言補足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アーキの核（2.5分）：ここが今日の一番の持ち帰り。『状態をモデル1つに集める→そこから描画も書き出しも生成する』。フレームワーク無しでもこの分離だけで保守性が段違い、と強調。図の矢印を指しながら『入力→M→再描画』の一方向の流れを声に出す。Q:『Reactでよくない？』→A:学習用・配布容易・ゼロ依存が狙い。考え方は同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コード読解①（2分）：擬似コードレベルでOK。『入力→M更新→renderDoc()』の一行を一緒に追う。受講生に問う：『もしフォームとプレビューが別々に状態を持ったら？』→ズレる・バグる。Mが唯一の真実だから整合する、と落と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コード読解②（2分）：トレーサビリティ＝要件とテストの対応。現場で抜けやすい所をツールが常時チェックしてくれる価値を語る。customテンプレ時やFR未定義時は空を返すガードがある（誤表示防止）と技術的に一言。Q:『対応FRはどう書く？』→テスト観点にFR-01,02のように番号を書くと紐づ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コード読解③（1.5分）：地味だが“振り直すとテストの対応も自動で追従する”のが効く。手作業だと必ず紐付けが壊れる。設計時に『番号は機械が面倒を見る』と決めた、という意思決定の話に。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コード読解④（2分）：『人にもAIにも渡せる』出力の幅。CSVはRFC4180でカンマ・引用符・改行を正しく逃がす（Excelで開ける）。AIは“下書き役”で、鍵は端末だけ・送信先を限定＝セキュリティの話。プライバシーを気にする受講生に刺さるポイン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ハンズオン（5分）：実機で。まずConsoleでS.toMarkdown()を叩いて『画面操作なしでも生成できる＝モデル駆動の証拠』を見せる。次に各自プリセットを選んでFRを1つGWTで書き、トレース帯が緑になる体験。時間が押したら手順③④はデモで巻き取る。詰まる人のフォローに回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設計哲学（2分）：ここは“自分のツールに移植できる原則”。特に『事実と所感を分ける』『たとえに※不正確』はうさうさ流の核で、誠実さの担保。版数5箇所統一は地味だが現場で効く。受講生に『どれか1つを自分の制作物に取り入れて』と宿題的に促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クロージング（1.5分）：今日の1行『状態はモデル1つに集める』を復唱してもらう。次の一歩を具体化：手元の小さなツール（ToDoでも可）で“M駆動＋1形式書き出し”をやってみる、と宿題。質問タイムへ。最後に『面白きこともなき世を面白く』で締め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運営メモ：時間が最も溶けるのはハンズオン。開始前に『環境（ブラウザでファイルを開く）』だけ先に済ませてもらうと巻ける。各セクションの“残り時間”を口に出すと全体が締まる。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カンペ：断定しすぎず、コードの該当箇所を一緒に開いて確認する姿勢で。分からない質問は『一緒に調べましょう』でOK。セキュリティ系（保存先・送信先）は丁寧に。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9B3D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0" y="-1005840"/>
            <a:ext cx="2926080" cy="2926080"/>
          </a:xfrm>
          <a:prstGeom prst="oval">
            <a:avLst/>
          </a:prstGeom>
          <a:solidFill>
            <a:srgbClr val="6E2A4C"/>
          </a:solidFill>
          <a:ln/>
        </p:spPr>
      </p:sp>
      <p:sp>
        <p:nvSpPr>
          <p:cNvPr id="3" name="Shape 1"/>
          <p:cNvSpPr/>
          <p:nvPr/>
        </p:nvSpPr>
        <p:spPr>
          <a:xfrm>
            <a:off x="8321040" y="3383280"/>
            <a:ext cx="2377440" cy="2377440"/>
          </a:xfrm>
          <a:prstGeom prst="oval">
            <a:avLst/>
          </a:prstGeom>
          <a:solidFill>
            <a:srgbClr val="6E2A4C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685800"/>
            <a:ext cx="1371600" cy="1371600"/>
          </a:xfrm>
          <a:prstGeom prst="oval">
            <a:avLst/>
          </a:prstGeom>
          <a:solidFill>
            <a:srgbClr val="C9A24E"/>
          </a:solidFill>
          <a:ln/>
          <a:effectLst>
            <a:outerShdw sx="100000" sy="100000" kx="0" ky="0" algn="bl" rotWithShape="0" blurRad="114300" dist="38100" dir="5400000">
              <a:srgbClr val="6E2A4C">
                <a:alpha val="1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987552"/>
            <a:ext cx="768096" cy="7680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240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E7C9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SHIFT AI 勉強会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48640" y="26974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単一HTMLで“設計書ジェネレーター”を読み解く</a:t>
            </a:r>
            <a:endParaRPr lang="en-US" sz="3300" dirty="0"/>
          </a:p>
        </p:txBody>
      </p:sp>
      <p:sp>
        <p:nvSpPr>
          <p:cNvPr id="8" name="Text 5"/>
          <p:cNvSpPr/>
          <p:nvPr/>
        </p:nvSpPr>
        <p:spPr>
          <a:xfrm>
            <a:off x="566928" y="3611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2D9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— うさうさ開発フロア PRO のソースコードから学ぶ（v2.0.0 PRO）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66928" y="4343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C9D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講師：うさうさ先生 🐰🦺   </a:t>
            </a:r>
            <a:pPr indent="0" marL="0">
              <a:buNone/>
            </a:pPr>
            <a:r>
              <a:rPr lang="en-US" sz="1200" i="1" dirty="0">
                <a:solidFill>
                  <a:srgbClr val="E7C9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面白きこともなき世を面白く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852160" y="457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【講師用・スピーカーノート付き】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B3D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今日のゴールと流れ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8046720" cy="960120"/>
          </a:xfrm>
          <a:prstGeom prst="roundRect">
            <a:avLst>
              <a:gd name="adj" fmla="val 8571"/>
            </a:avLst>
          </a:prstGeom>
          <a:solidFill>
            <a:srgbClr val="FBF1F6"/>
          </a:solidFill>
          <a:ln w="12700">
            <a:solidFill>
              <a:srgbClr val="EAD7E2"/>
            </a:solidFill>
            <a:prstDash val="solid"/>
          </a:ln>
          <a:effectLst>
            <a:outerShdw sx="100000" sy="100000" kx="0" ky="0" algn="bl" rotWithShape="0" blurRad="114300" dist="38100" dir="5400000">
              <a:srgbClr val="6E2A4C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252728"/>
            <a:ext cx="731520" cy="731520"/>
          </a:xfrm>
          <a:prstGeom prst="oval">
            <a:avLst/>
          </a:prstGeom>
          <a:solidFill>
            <a:srgbClr val="9B3D6E"/>
          </a:solidFill>
          <a:ln/>
          <a:effectLst>
            <a:outerShdw sx="100000" sy="100000" kx="0" ky="0" algn="bl" rotWithShape="0" blurRad="114300" dist="38100" dir="5400000">
              <a:srgbClr val="6E2A4C">
                <a:alpha val="1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9614" y="1413662"/>
            <a:ext cx="409651" cy="40965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74520" y="126187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45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ゴール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874520" y="1618488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3A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“単一HTMLツール”の設計の型を、ソースから読み取れるようになる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2286000"/>
            <a:ext cx="8046720" cy="960120"/>
          </a:xfrm>
          <a:prstGeom prst="roundRect">
            <a:avLst>
              <a:gd name="adj" fmla="val 8571"/>
            </a:avLst>
          </a:prstGeom>
          <a:solidFill>
            <a:srgbClr val="FBF1F6"/>
          </a:solidFill>
          <a:ln w="12700">
            <a:solidFill>
              <a:srgbClr val="EAD7E2"/>
            </a:solidFill>
            <a:prstDash val="solid"/>
          </a:ln>
          <a:effectLst>
            <a:outerShdw sx="100000" sy="100000" kx="0" ky="0" algn="bl" rotWithShape="0" blurRad="114300" dist="38100" dir="5400000">
              <a:srgbClr val="6E2A4C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68680" y="2395728"/>
            <a:ext cx="731520" cy="731520"/>
          </a:xfrm>
          <a:prstGeom prst="oval">
            <a:avLst/>
          </a:prstGeom>
          <a:solidFill>
            <a:srgbClr val="C9A24E"/>
          </a:solidFill>
          <a:ln/>
          <a:effectLst>
            <a:outerShdw sx="100000" sy="100000" kx="0" ky="0" algn="bl" rotWithShape="0" blurRad="114300" dist="38100" dir="5400000">
              <a:srgbClr val="6E2A4C">
                <a:alpha val="18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614" y="2556662"/>
            <a:ext cx="409651" cy="40965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874520" y="240487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45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題材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874520" y="2761488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3A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埋めるだけで要件定義書＋詳細設計書ができるジェネレーター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48640" y="3429000"/>
            <a:ext cx="8046720" cy="960120"/>
          </a:xfrm>
          <a:prstGeom prst="roundRect">
            <a:avLst>
              <a:gd name="adj" fmla="val 8571"/>
            </a:avLst>
          </a:prstGeom>
          <a:solidFill>
            <a:srgbClr val="FBF1F6"/>
          </a:solidFill>
          <a:ln w="12700">
            <a:solidFill>
              <a:srgbClr val="EAD7E2"/>
            </a:solidFill>
            <a:prstDash val="solid"/>
          </a:ln>
          <a:effectLst>
            <a:outerShdw sx="100000" sy="100000" kx="0" ky="0" algn="bl" rotWithShape="0" blurRad="114300" dist="38100" dir="5400000">
              <a:srgbClr val="6E2A4C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68680" y="3538728"/>
            <a:ext cx="731520" cy="731520"/>
          </a:xfrm>
          <a:prstGeom prst="oval">
            <a:avLst/>
          </a:prstGeom>
          <a:solidFill>
            <a:srgbClr val="9B3D6E"/>
          </a:solidFill>
          <a:ln/>
          <a:effectLst>
            <a:outerShdw sx="100000" sy="100000" kx="0" ky="0" algn="bl" rotWithShape="0" blurRad="114300" dist="38100" dir="5400000">
              <a:srgbClr val="6E2A4C">
                <a:alpha val="18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9614" y="3699662"/>
            <a:ext cx="409651" cy="40965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874520" y="354787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45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持ち帰り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1874520" y="3904488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3A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自分のツールでも再現できる勘所（モデル駆動・書き出し・AI連携）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457200" y="4828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6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うさうさ開発フロア PRO ｜ SHIFT AI 勉強会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7955280" y="482803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6F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/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B3D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このツールは何？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4800600" cy="3200400"/>
          </a:xfrm>
          <a:prstGeom prst="roundRect">
            <a:avLst>
              <a:gd name="adj" fmla="val 2571"/>
            </a:avLst>
          </a:prstGeom>
          <a:solidFill>
            <a:srgbClr val="FBF1F6"/>
          </a:solidFill>
          <a:ln w="12700">
            <a:solidFill>
              <a:srgbClr val="EAD7E2"/>
            </a:solidFill>
            <a:prstDash val="solid"/>
          </a:ln>
          <a:effectLst>
            <a:outerShdw sx="100000" sy="100000" kx="0" ky="0" algn="bl" rotWithShape="0" blurRad="114300" dist="38100" dir="5400000">
              <a:srgbClr val="6E2A4C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68680" y="137160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B3D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埋めるだけで「設計書」ができる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68680" y="1874520"/>
            <a:ext cx="42519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E3A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左フォームに入力 → 右に文書が即組み上がる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E3A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要件定義書 兼 詳細設計書（PART I〜III）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E3A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HTML 1枚・ゼロ依存・オフライン動作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E3A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29種のプリセット／書き出し9形式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E3A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AIは“任意”。無くても全機能動く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577840" y="1143000"/>
            <a:ext cx="3017520" cy="3200400"/>
          </a:xfrm>
          <a:prstGeom prst="roundRect">
            <a:avLst>
              <a:gd name="adj" fmla="val 2727"/>
            </a:avLst>
          </a:prstGeom>
          <a:solidFill>
            <a:srgbClr val="9B3D6E"/>
          </a:solidFill>
          <a:ln w="12700">
            <a:solidFill>
              <a:srgbClr val="EAD7E2"/>
            </a:solidFill>
            <a:prstDash val="solid"/>
          </a:ln>
          <a:effectLst>
            <a:outerShdw sx="100000" sy="100000" kx="0" ky="0" algn="bl" rotWithShape="0" blurRad="114300" dist="38100" dir="5400000">
              <a:srgbClr val="6E2A4C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583680" y="1463040"/>
            <a:ext cx="1005840" cy="1005840"/>
          </a:xfrm>
          <a:prstGeom prst="oval">
            <a:avLst/>
          </a:prstGeom>
          <a:solidFill>
            <a:srgbClr val="C9A24E"/>
          </a:solidFill>
          <a:ln/>
          <a:effectLst>
            <a:outerShdw sx="100000" sy="100000" kx="0" ky="0" algn="bl" rotWithShape="0" blurRad="114300" dist="38100" dir="5400000">
              <a:srgbClr val="6E2A4C">
                <a:alpha val="18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04965" y="1684325"/>
            <a:ext cx="563270" cy="56327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715000" y="2697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入力 → 設計書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715000" y="31546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2D9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“書く心理的ハードル”を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2D9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下げるための道具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4828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6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うさうさ開発フロア PRO ｜ SHIFT AI 勉強会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955280" y="482803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6F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B3D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なぜ要件定義・設計？ 🍜 で考える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2560320" cy="2331720"/>
          </a:xfrm>
          <a:prstGeom prst="roundRect">
            <a:avLst>
              <a:gd name="adj" fmla="val 3529"/>
            </a:avLst>
          </a:prstGeom>
          <a:solidFill>
            <a:srgbClr val="FBF1F6"/>
          </a:solidFill>
          <a:ln w="12700">
            <a:solidFill>
              <a:srgbClr val="EAD7E2"/>
            </a:solidFill>
            <a:prstDash val="solid"/>
          </a:ln>
          <a:effectLst>
            <a:outerShdw sx="100000" sy="100000" kx="0" ky="0" algn="bl" rotWithShape="0" blurRad="114300" dist="38100" dir="5400000">
              <a:srgbClr val="6E2A4C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371600" y="1508760"/>
            <a:ext cx="914400" cy="914400"/>
          </a:xfrm>
          <a:prstGeom prst="oval">
            <a:avLst/>
          </a:prstGeom>
          <a:solidFill>
            <a:srgbClr val="9B3D6E"/>
          </a:solidFill>
          <a:ln/>
          <a:effectLst>
            <a:outerShdw sx="100000" sy="100000" kx="0" ky="0" algn="bl" rotWithShape="0" blurRad="114300" dist="38100" dir="5400000">
              <a:srgbClr val="6E2A4C">
                <a:alpha val="1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2768" y="1709928"/>
            <a:ext cx="512064" cy="5120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25603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B3D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要件定義 = 注文票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85800" y="303580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3A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何を・どれくらい・いつまでに欲しいか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64408" y="1234440"/>
            <a:ext cx="2560320" cy="2331720"/>
          </a:xfrm>
          <a:prstGeom prst="roundRect">
            <a:avLst>
              <a:gd name="adj" fmla="val 3529"/>
            </a:avLst>
          </a:prstGeom>
          <a:solidFill>
            <a:srgbClr val="FBF1F6"/>
          </a:solidFill>
          <a:ln w="12700">
            <a:solidFill>
              <a:srgbClr val="EAD7E2"/>
            </a:solidFill>
            <a:prstDash val="solid"/>
          </a:ln>
          <a:effectLst>
            <a:outerShdw sx="100000" sy="100000" kx="0" ky="0" algn="bl" rotWithShape="0" blurRad="114300" dist="38100" dir="5400000">
              <a:srgbClr val="6E2A4C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087368" y="1508760"/>
            <a:ext cx="914400" cy="914400"/>
          </a:xfrm>
          <a:prstGeom prst="oval">
            <a:avLst/>
          </a:prstGeom>
          <a:solidFill>
            <a:srgbClr val="C2455C"/>
          </a:solidFill>
          <a:ln/>
          <a:effectLst>
            <a:outerShdw sx="100000" sy="100000" kx="0" ky="0" algn="bl" rotWithShape="0" blurRad="114300" dist="38100" dir="5400000">
              <a:srgbClr val="6E2A4C">
                <a:alpha val="18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8536" y="1709928"/>
            <a:ext cx="512064" cy="51206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01568" y="25603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B3D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基本設計 = 店の動線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3401568" y="303580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3A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厨房・カウンターをどう配置するか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980176" y="1234440"/>
            <a:ext cx="2560320" cy="2331720"/>
          </a:xfrm>
          <a:prstGeom prst="roundRect">
            <a:avLst>
              <a:gd name="adj" fmla="val 3529"/>
            </a:avLst>
          </a:prstGeom>
          <a:solidFill>
            <a:srgbClr val="FBF1F6"/>
          </a:solidFill>
          <a:ln w="12700">
            <a:solidFill>
              <a:srgbClr val="EAD7E2"/>
            </a:solidFill>
            <a:prstDash val="solid"/>
          </a:ln>
          <a:effectLst>
            <a:outerShdw sx="100000" sy="100000" kx="0" ky="0" algn="bl" rotWithShape="0" blurRad="114300" dist="38100" dir="5400000">
              <a:srgbClr val="6E2A4C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803136" y="1508760"/>
            <a:ext cx="914400" cy="914400"/>
          </a:xfrm>
          <a:prstGeom prst="oval">
            <a:avLst/>
          </a:prstGeom>
          <a:solidFill>
            <a:srgbClr val="C9A24E"/>
          </a:solidFill>
          <a:ln/>
          <a:effectLst>
            <a:outerShdw sx="100000" sy="100000" kx="0" ky="0" algn="bl" rotWithShape="0" blurRad="114300" dist="38100" dir="5400000">
              <a:srgbClr val="6E2A4C">
                <a:alpha val="18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4304" y="1709928"/>
            <a:ext cx="512064" cy="51206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117336" y="25603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B3D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詳細設計 = レシピ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6117336" y="303580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3A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誰が作っても同じ味になる手順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548640" y="38404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※このたとえは正確ではありません（入口の理解用）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548640" y="41605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3A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注文票（要件）が曖昧だと、厨房（実装）が優秀でも違う料理が出てきます。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457200" y="4828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6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うさうさ開発フロア PRO ｜ SHIFT AI 勉強会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7955280" y="482803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6F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B3D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全体アーキテクチャ：モデル駆動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FBF1F6"/>
          </a:solidFill>
          <a:ln w="12700">
            <a:solidFill>
              <a:srgbClr val="EAD7E2"/>
            </a:solidFill>
            <a:prstDash val="solid"/>
          </a:ln>
          <a:effectLst>
            <a:outerShdw sx="100000" sy="100000" kx="0" ky="0" algn="bl" rotWithShape="0" blurRad="114300" dist="38100" dir="5400000">
              <a:srgbClr val="6E2A4C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8288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B3D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入力フォーム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566160" y="182880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9B3D6E"/>
          </a:solidFill>
          <a:ln w="12700">
            <a:solidFill>
              <a:srgbClr val="EAD7E2"/>
            </a:solidFill>
            <a:prstDash val="solid"/>
          </a:ln>
          <a:effectLst>
            <a:outerShdw sx="100000" sy="100000" kx="0" ky="0" algn="bl" rotWithShape="0" blurRad="114300" dist="38100" dir="5400000">
              <a:srgbClr val="6E2A4C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566160" y="18288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モデル M（状態1つ）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92240" y="182880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FBF1F6"/>
          </a:solidFill>
          <a:ln w="12700">
            <a:solidFill>
              <a:srgbClr val="EAD7E2"/>
            </a:solidFill>
            <a:prstDash val="solid"/>
          </a:ln>
          <a:effectLst>
            <a:outerShdw sx="100000" sy="100000" kx="0" ky="0" algn="bl" rotWithShape="0" blurRad="114300" dist="38100" dir="5400000">
              <a:srgbClr val="6E2A4C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92240" y="18288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B3D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プレビュー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651760" y="2286000"/>
            <a:ext cx="914400" cy="0"/>
          </a:xfrm>
          <a:prstGeom prst="line">
            <a:avLst/>
          </a:prstGeom>
          <a:noFill/>
          <a:ln w="31750">
            <a:solidFill>
              <a:srgbClr val="C9A24E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577840" y="2286000"/>
            <a:ext cx="914400" cy="0"/>
          </a:xfrm>
          <a:prstGeom prst="line">
            <a:avLst/>
          </a:prstGeom>
          <a:noFill/>
          <a:ln w="31750">
            <a:solidFill>
              <a:srgbClr val="C9A24E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2468880" y="14813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6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入力で更新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40680" y="14813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6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再描画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566160" y="3246120"/>
            <a:ext cx="2011680" cy="777240"/>
          </a:xfrm>
          <a:prstGeom prst="roundRect">
            <a:avLst>
              <a:gd name="adj" fmla="val 9412"/>
            </a:avLst>
          </a:prstGeom>
          <a:solidFill>
            <a:srgbClr val="FBF1F6"/>
          </a:solidFill>
          <a:ln w="12700">
            <a:solidFill>
              <a:srgbClr val="EAD7E2"/>
            </a:solidFill>
            <a:prstDash val="solid"/>
          </a:ln>
          <a:effectLst>
            <a:outerShdw sx="100000" sy="100000" kx="0" ky="0" algn="bl" rotWithShape="0" blurRad="114300" dist="38100" dir="5400000">
              <a:srgbClr val="6E2A4C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566160" y="324612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245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書き出し各形式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0" y="2743200"/>
            <a:ext cx="0" cy="502920"/>
          </a:xfrm>
          <a:prstGeom prst="line">
            <a:avLst/>
          </a:prstGeom>
          <a:noFill/>
          <a:ln w="31750">
            <a:solidFill>
              <a:srgbClr val="C9A24E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640080" y="4069080"/>
            <a:ext cx="7955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5E3A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素のJavaScript・ライブラリ非依存（ビルドレス）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5E3A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状態は「モデルM」1つに集約＝唯一の真実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5E3A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イベント委譲で入力を受け、M更新→再描画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4828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6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うさうさ開発フロア PRO ｜ SHIFT AI 勉強会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955280" y="482803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6F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B3D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ソースの肝① モデル駆動レンダリング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8046720" cy="1691640"/>
          </a:xfrm>
          <a:prstGeom prst="roundRect">
            <a:avLst>
              <a:gd name="adj" fmla="val 4865"/>
            </a:avLst>
          </a:prstGeom>
          <a:solidFill>
            <a:srgbClr val="FBF1F6"/>
          </a:solidFill>
          <a:ln w="12700">
            <a:solidFill>
              <a:srgbClr val="EAD7E2"/>
            </a:solidFill>
            <a:prstDash val="solid"/>
          </a:ln>
          <a:effectLst>
            <a:outerShdw sx="100000" sy="100000" kx="0" ky="0" algn="bl" rotWithShape="0" blurRad="114300" dist="38100" dir="5400000">
              <a:srgbClr val="6E2A4C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68680" y="1417320"/>
            <a:ext cx="7406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6F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入力イベントを #form 直下で委譲受信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E2A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onInput(e){  M[key] = e.target.value;  renderDoc(); 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A6F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モデルから文書・トレース・各形式を生成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E2A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toMarkdown(M);  computeTrace(M);  genDocx(M);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3154680"/>
            <a:ext cx="7955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5E3A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画面操作と書き出しが、同じ M を読むだけ＝ズレない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5E3A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再描画は renderForm / renderDoc に一本化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828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6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うさうさ開発フロア PRO ｜ SHIFT AI 勉強会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955280" y="482803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6F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B3D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ソースの肝② トレーサビリティ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4206240" cy="2926080"/>
          </a:xfrm>
          <a:prstGeom prst="roundRect">
            <a:avLst>
              <a:gd name="adj" fmla="val 2813"/>
            </a:avLst>
          </a:prstGeom>
          <a:solidFill>
            <a:srgbClr val="FBF1F6"/>
          </a:solidFill>
          <a:ln w="12700">
            <a:solidFill>
              <a:srgbClr val="EAD7E2"/>
            </a:solidFill>
            <a:prstDash val="solid"/>
          </a:ln>
          <a:effectLst>
            <a:outerShdw sx="100000" sy="100000" kx="0" ky="0" algn="bl" rotWithShape="0" blurRad="114300" dist="38100" dir="5400000">
              <a:srgbClr val="6E2A4C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371600"/>
            <a:ext cx="822960" cy="822960"/>
          </a:xfrm>
          <a:prstGeom prst="oval">
            <a:avLst/>
          </a:prstGeom>
          <a:solidFill>
            <a:srgbClr val="9B3D6E"/>
          </a:solidFill>
          <a:ln/>
          <a:effectLst>
            <a:outerShdw sx="100000" sy="100000" kx="0" ky="0" algn="bl" rotWithShape="0" blurRad="114300" dist="38100" dir="5400000">
              <a:srgbClr val="6E2A4C">
                <a:alpha val="1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9731" y="1552651"/>
            <a:ext cx="460858" cy="46085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74520" y="14630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B3D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FR ↔ テストの紐付けを判定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68680" y="2377440"/>
            <a:ext cx="3749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5E3A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computeTrace() が返す：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5E3A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total（FR総数）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5E3A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covered（紐付けあり）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5E3A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uncovered（漏れ）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5E3A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unknownRefs（存在しない参照）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937760" y="1188720"/>
            <a:ext cx="3657600" cy="2926080"/>
          </a:xfrm>
          <a:prstGeom prst="roundRect">
            <a:avLst>
              <a:gd name="adj" fmla="val 2813"/>
            </a:avLst>
          </a:prstGeom>
          <a:solidFill>
            <a:srgbClr val="9B3D6E"/>
          </a:solidFill>
          <a:ln w="12700">
            <a:solidFill>
              <a:srgbClr val="EAD7E2"/>
            </a:solidFill>
            <a:prstDash val="solid"/>
          </a:ln>
          <a:effectLst>
            <a:outerShdw sx="100000" sy="100000" kx="0" ky="0" algn="bl" rotWithShape="0" blurRad="114300" dist="38100" dir="5400000">
              <a:srgbClr val="6E2A4C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120640" y="1417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帯の色で“気づける”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212080" y="1920240"/>
            <a:ext cx="3108960" cy="640080"/>
          </a:xfrm>
          <a:prstGeom prst="roundRect">
            <a:avLst>
              <a:gd name="adj" fmla="val 8571"/>
            </a:avLst>
          </a:prstGeom>
          <a:solidFill>
            <a:srgbClr val="56C596"/>
          </a:solidFill>
          <a:ln/>
        </p:spPr>
      </p:sp>
      <p:sp>
        <p:nvSpPr>
          <p:cNvPr id="11" name="Text 8"/>
          <p:cNvSpPr/>
          <p:nvPr/>
        </p:nvSpPr>
        <p:spPr>
          <a:xfrm>
            <a:off x="5212080" y="19202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3D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 6件中6件カバー（緑）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212080" y="2697480"/>
            <a:ext cx="3108960" cy="640080"/>
          </a:xfrm>
          <a:prstGeom prst="roundRect">
            <a:avLst>
              <a:gd name="adj" fmla="val 8571"/>
            </a:avLst>
          </a:prstGeom>
          <a:solidFill>
            <a:srgbClr val="F2C94C"/>
          </a:solidFill>
          <a:ln/>
        </p:spPr>
      </p:sp>
      <p:sp>
        <p:nvSpPr>
          <p:cNvPr id="13" name="Text 10"/>
          <p:cNvSpPr/>
          <p:nvPr/>
        </p:nvSpPr>
        <p:spPr>
          <a:xfrm>
            <a:off x="5212080" y="26974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43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△ 未カバー / 不正参照あり（黄）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120640" y="35204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D9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レビューで一番見落とす“要件とテストのズレ”を、書きながら潰せる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57200" y="4828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6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うさうさ開発フロア PRO ｜ SHIFT AI 勉強会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7955280" y="482803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6F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B3D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ソースの肝③ 採番ロジック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8046720" cy="1371600"/>
          </a:xfrm>
          <a:prstGeom prst="roundRect">
            <a:avLst>
              <a:gd name="adj" fmla="val 6000"/>
            </a:avLst>
          </a:prstGeom>
          <a:solidFill>
            <a:srgbClr val="FBF1F6"/>
          </a:solidFill>
          <a:ln w="12700">
            <a:solidFill>
              <a:srgbClr val="EAD7E2"/>
            </a:solidFill>
            <a:prstDash val="solid"/>
          </a:ln>
          <a:effectLst>
            <a:outerShdw sx="100000" sy="100000" kx="0" ky="0" algn="bl" rotWithShape="0" blurRad="114300" dist="38100" dir="5400000">
              <a:srgbClr val="6E2A4C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68680" y="1371600"/>
            <a:ext cx="7406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E2A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renumberFR(): 旧FR番号 → 新連番 をマップ化し、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3E2A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テスト観点の「対応FR」も置換（未知の参照は保持）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3E2A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revNext(): 末尾の数値を+1（v1.0→v1.1, v2.9→v2.10）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788920"/>
            <a:ext cx="3931920" cy="1371600"/>
          </a:xfrm>
          <a:prstGeom prst="roundRect">
            <a:avLst>
              <a:gd name="adj" fmla="val 6000"/>
            </a:avLst>
          </a:prstGeom>
          <a:solidFill>
            <a:srgbClr val="FBF1F6"/>
          </a:solidFill>
          <a:ln w="12700">
            <a:solidFill>
              <a:srgbClr val="EAD7E2"/>
            </a:solidFill>
            <a:prstDash val="solid"/>
          </a:ln>
          <a:effectLst>
            <a:outerShdw sx="100000" sy="100000" kx="0" ky="0" algn="bl" rotWithShape="0" blurRad="114300" dist="38100" dir="5400000">
              <a:srgbClr val="6E2A4C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37260" y="3086100"/>
            <a:ext cx="777240" cy="777240"/>
          </a:xfrm>
          <a:prstGeom prst="oval">
            <a:avLst/>
          </a:prstGeom>
          <a:solidFill>
            <a:srgbClr val="C2455C"/>
          </a:solidFill>
          <a:ln/>
          <a:effectLst>
            <a:outerShdw sx="100000" sy="100000" kx="0" ky="0" algn="bl" rotWithShape="0" blurRad="114300" dist="38100" dir="5400000">
              <a:srgbClr val="6E2A4C">
                <a:alpha val="1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8253" y="3257093"/>
            <a:ext cx="435254" cy="43525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29718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B3D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自動 / 手動をボタンで切替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828800" y="35204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3A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追加で次番号が入る。手でも直せる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663440" y="2788920"/>
            <a:ext cx="3931920" cy="1371600"/>
          </a:xfrm>
          <a:prstGeom prst="roundRect">
            <a:avLst>
              <a:gd name="adj" fmla="val 6000"/>
            </a:avLst>
          </a:prstGeom>
          <a:solidFill>
            <a:srgbClr val="FBF1F6"/>
          </a:solidFill>
          <a:ln w="12700">
            <a:solidFill>
              <a:srgbClr val="EAD7E2"/>
            </a:solidFill>
            <a:prstDash val="solid"/>
          </a:ln>
          <a:effectLst>
            <a:outerShdw sx="100000" sy="100000" kx="0" ky="0" algn="bl" rotWithShape="0" blurRad="114300" dist="38100" dir="5400000">
              <a:srgbClr val="6E2A4C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052060" y="3086100"/>
            <a:ext cx="777240" cy="777240"/>
          </a:xfrm>
          <a:prstGeom prst="oval">
            <a:avLst/>
          </a:prstGeom>
          <a:solidFill>
            <a:srgbClr val="C9A24E"/>
          </a:solidFill>
          <a:ln/>
          <a:effectLst>
            <a:outerShdw sx="100000" sy="100000" kx="0" ky="0" algn="bl" rotWithShape="0" blurRad="114300" dist="38100" dir="5400000">
              <a:srgbClr val="6E2A4C">
                <a:alpha val="18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3053" y="3257093"/>
            <a:ext cx="435254" cy="43525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943600" y="29718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B3D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振り直しでテスト参照も追従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5943600" y="35204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3A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紐付けが壊れない＝トレーサビリティ維持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57200" y="4828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6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うさうさ開発フロア PRO ｜ SHIFT AI 勉強会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7955280" y="482803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6F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B3D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ソースの肝④ 多形式書き出し＆AI連携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4206240" cy="2926080"/>
          </a:xfrm>
          <a:prstGeom prst="roundRect">
            <a:avLst>
              <a:gd name="adj" fmla="val 2813"/>
            </a:avLst>
          </a:prstGeom>
          <a:solidFill>
            <a:srgbClr val="FBF1F6"/>
          </a:solidFill>
          <a:ln w="12700">
            <a:solidFill>
              <a:srgbClr val="EAD7E2"/>
            </a:solidFill>
            <a:prstDash val="solid"/>
          </a:ln>
          <a:effectLst>
            <a:outerShdw sx="100000" sy="100000" kx="0" ky="0" algn="bl" rotWithShape="0" blurRad="114300" dist="38100" dir="5400000">
              <a:srgbClr val="6E2A4C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371600"/>
            <a:ext cx="822960" cy="822960"/>
          </a:xfrm>
          <a:prstGeom prst="oval">
            <a:avLst/>
          </a:prstGeom>
          <a:solidFill>
            <a:srgbClr val="9B3D6E"/>
          </a:solidFill>
          <a:ln/>
          <a:effectLst>
            <a:outerShdw sx="100000" sy="100000" kx="0" ky="0" algn="bl" rotWithShape="0" blurRad="114300" dist="38100" dir="5400000">
              <a:srgbClr val="6E2A4C">
                <a:alpha val="1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9731" y="1552651"/>
            <a:ext cx="460858" cy="46085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74520" y="1554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B3D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9形式に書き出し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68680" y="2423160"/>
            <a:ext cx="3749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E3A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md / txt / csv（RFC4180・BOM）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E3A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html / 本物のdocx / xlsx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E3A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JSON（schema usausa.reqdesign/v1）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E3A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AI再現プロンプト・印刷/PDF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937760" y="1188720"/>
            <a:ext cx="3657600" cy="2926080"/>
          </a:xfrm>
          <a:prstGeom prst="roundRect">
            <a:avLst>
              <a:gd name="adj" fmla="val 2813"/>
            </a:avLst>
          </a:prstGeom>
          <a:solidFill>
            <a:srgbClr val="9B3D6E"/>
          </a:solidFill>
          <a:ln w="12700">
            <a:solidFill>
              <a:srgbClr val="EAD7E2"/>
            </a:solidFill>
            <a:prstDash val="solid"/>
          </a:ln>
          <a:effectLst>
            <a:outerShdw sx="100000" sy="100000" kx="0" ky="0" algn="bl" rotWithShape="0" blurRad="114300" dist="38100" dir="5400000">
              <a:srgbClr val="6E2A4C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257800" y="1417320"/>
            <a:ext cx="822960" cy="822960"/>
          </a:xfrm>
          <a:prstGeom prst="oval">
            <a:avLst/>
          </a:prstGeom>
          <a:solidFill>
            <a:srgbClr val="C9A24E"/>
          </a:solidFill>
          <a:ln/>
          <a:effectLst>
            <a:outerShdw sx="100000" sy="100000" kx="0" ky="0" algn="bl" rotWithShape="0" blurRad="114300" dist="38100" dir="5400000">
              <a:srgbClr val="6E2A4C">
                <a:alpha val="18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8851" y="1598371"/>
            <a:ext cx="460858" cy="46085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263640" y="16002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AIは任意・送信先を限定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5212080" y="242316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2D9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送信先は api.anthropic.com のみ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2D9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モデル claude-sonnet-4-6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2D9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鍵は端末のみ・出力に含めない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2D9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未設定でも全機能オフライン動作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457200" y="4828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6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うさうさ開発フロア PRO ｜ SHIFT AI 勉強会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7955280" y="482803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6F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B3D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ハンズオン：さわってみよう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8046720" cy="1463040"/>
          </a:xfrm>
          <a:prstGeom prst="roundRect">
            <a:avLst>
              <a:gd name="adj" fmla="val 5625"/>
            </a:avLst>
          </a:prstGeom>
          <a:solidFill>
            <a:srgbClr val="FBF1F6"/>
          </a:solidFill>
          <a:ln w="12700">
            <a:solidFill>
              <a:srgbClr val="EAD7E2"/>
            </a:solidFill>
            <a:prstDash val="solid"/>
          </a:ln>
          <a:effectLst>
            <a:outerShdw sx="100000" sy="100000" kx="0" ky="0" algn="bl" rotWithShape="0" blurRad="114300" dist="38100" dir="5400000">
              <a:srgbClr val="6E2A4C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68680" y="1417320"/>
            <a:ext cx="7406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6F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ブラウザの開発者ツール（Console）で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E2A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S = window.__USAUSA_DEVFLOOR__;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E2A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S.applyPreset("artifact"); S.toMarkdown(); S.computeTrace();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325880" y="2971800"/>
            <a:ext cx="502920" cy="502920"/>
          </a:xfrm>
          <a:prstGeom prst="oval">
            <a:avLst/>
          </a:prstGeom>
          <a:solidFill>
            <a:srgbClr val="9B3D6E"/>
          </a:solidFill>
          <a:ln/>
          <a:effectLst>
            <a:outerShdw sx="100000" sy="100000" kx="0" ky="0" algn="bl" rotWithShape="0" blurRad="114300" dist="38100" dir="5400000">
              <a:srgbClr val="6E2A4C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32588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36118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3A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プリセットを選ぶ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55848" y="2971800"/>
            <a:ext cx="502920" cy="502920"/>
          </a:xfrm>
          <a:prstGeom prst="oval">
            <a:avLst/>
          </a:prstGeom>
          <a:solidFill>
            <a:srgbClr val="C9A24E"/>
          </a:solidFill>
          <a:ln/>
          <a:effectLst>
            <a:outerShdw sx="100000" sy="100000" kx="0" ky="0" algn="bl" rotWithShape="0" blurRad="114300" dist="38100" dir="5400000">
              <a:srgbClr val="6E2A4C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55848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578608" y="36118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3A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FRをGWTで埋める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385816" y="2971800"/>
            <a:ext cx="502920" cy="502920"/>
          </a:xfrm>
          <a:prstGeom prst="oval">
            <a:avLst/>
          </a:prstGeom>
          <a:solidFill>
            <a:srgbClr val="9B3D6E"/>
          </a:solidFill>
          <a:ln/>
          <a:effectLst>
            <a:outerShdw sx="100000" sy="100000" kx="0" ky="0" algn="bl" rotWithShape="0" blurRad="114300" dist="38100" dir="5400000">
              <a:srgbClr val="6E2A4C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85816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08576" y="36118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3A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対応FRでトレース帯を緑に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415784" y="2971800"/>
            <a:ext cx="502920" cy="502920"/>
          </a:xfrm>
          <a:prstGeom prst="oval">
            <a:avLst/>
          </a:prstGeom>
          <a:solidFill>
            <a:srgbClr val="C9A24E"/>
          </a:solidFill>
          <a:ln/>
          <a:effectLst>
            <a:outerShdw sx="100000" sy="100000" kx="0" ky="0" algn="bl" rotWithShape="0" blurRad="114300" dist="38100" dir="5400000">
              <a:srgbClr val="6E2A4C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415784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638544" y="36118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3A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docx/AIプロンプトで書き出す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4828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6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うさうさ開発フロア PRO ｜ SHIFT AI 勉強会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955280" y="482803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6F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B3D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設計のこだわり（再現のヒント）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3931920" cy="1325880"/>
          </a:xfrm>
          <a:prstGeom prst="roundRect">
            <a:avLst>
              <a:gd name="adj" fmla="val 6207"/>
            </a:avLst>
          </a:prstGeom>
          <a:solidFill>
            <a:srgbClr val="FBF1F6"/>
          </a:solidFill>
          <a:ln w="12700">
            <a:solidFill>
              <a:srgbClr val="EAD7E2"/>
            </a:solidFill>
            <a:prstDash val="solid"/>
          </a:ln>
          <a:effectLst>
            <a:outerShdw sx="100000" sy="100000" kx="0" ky="0" algn="bl" rotWithShape="0" blurRad="114300" dist="38100" dir="5400000">
              <a:srgbClr val="6E2A4C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14400" y="1481328"/>
            <a:ext cx="731520" cy="731520"/>
          </a:xfrm>
          <a:prstGeom prst="oval">
            <a:avLst/>
          </a:prstGeom>
          <a:solidFill>
            <a:srgbClr val="9B3D6E"/>
          </a:solidFill>
          <a:ln/>
          <a:effectLst>
            <a:outerShdw sx="100000" sy="100000" kx="0" ky="0" algn="bl" rotWithShape="0" blurRad="114300" dist="38100" dir="5400000">
              <a:srgbClr val="6E2A4C">
                <a:alpha val="1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334" y="1642262"/>
            <a:ext cx="409651" cy="40965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83080" y="135331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B3D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ゼロ依存・オフライン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783080" y="1792224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3A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配布容易・監査容易。docx/xlsxのみ都度取得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663440" y="1188720"/>
            <a:ext cx="3931920" cy="1325880"/>
          </a:xfrm>
          <a:prstGeom prst="roundRect">
            <a:avLst>
              <a:gd name="adj" fmla="val 6207"/>
            </a:avLst>
          </a:prstGeom>
          <a:solidFill>
            <a:srgbClr val="FBF1F6"/>
          </a:solidFill>
          <a:ln w="12700">
            <a:solidFill>
              <a:srgbClr val="EAD7E2"/>
            </a:solidFill>
            <a:prstDash val="solid"/>
          </a:ln>
          <a:effectLst>
            <a:outerShdw sx="100000" sy="100000" kx="0" ky="0" algn="bl" rotWithShape="0" blurRad="114300" dist="38100" dir="5400000">
              <a:srgbClr val="6E2A4C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029200" y="1481328"/>
            <a:ext cx="731520" cy="731520"/>
          </a:xfrm>
          <a:prstGeom prst="oval">
            <a:avLst/>
          </a:prstGeom>
          <a:solidFill>
            <a:srgbClr val="C2455C"/>
          </a:solidFill>
          <a:ln/>
          <a:effectLst>
            <a:outerShdw sx="100000" sy="100000" kx="0" ky="0" algn="bl" rotWithShape="0" blurRad="114300" dist="38100" dir="5400000">
              <a:srgbClr val="6E2A4C">
                <a:alpha val="18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0134" y="1642262"/>
            <a:ext cx="409651" cy="40965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897880" y="135331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B3D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事実と所感を分ける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5897880" y="1792224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3A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※不正確ラベル・役職名・捏造statなし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548640" y="2697480"/>
            <a:ext cx="3931920" cy="1325880"/>
          </a:xfrm>
          <a:prstGeom prst="roundRect">
            <a:avLst>
              <a:gd name="adj" fmla="val 6207"/>
            </a:avLst>
          </a:prstGeom>
          <a:solidFill>
            <a:srgbClr val="FBF1F6"/>
          </a:solidFill>
          <a:ln w="12700">
            <a:solidFill>
              <a:srgbClr val="EAD7E2"/>
            </a:solidFill>
            <a:prstDash val="solid"/>
          </a:ln>
          <a:effectLst>
            <a:outerShdw sx="100000" sy="100000" kx="0" ky="0" algn="bl" rotWithShape="0" blurRad="114300" dist="38100" dir="5400000">
              <a:srgbClr val="6E2A4C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914400" y="2990088"/>
            <a:ext cx="731520" cy="731520"/>
          </a:xfrm>
          <a:prstGeom prst="oval">
            <a:avLst/>
          </a:prstGeom>
          <a:solidFill>
            <a:srgbClr val="C9A24E"/>
          </a:solidFill>
          <a:ln/>
          <a:effectLst>
            <a:outerShdw sx="100000" sy="100000" kx="0" ky="0" algn="bl" rotWithShape="0" blurRad="114300" dist="38100" dir="5400000">
              <a:srgbClr val="6E2A4C">
                <a:alpha val="18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334" y="3151022"/>
            <a:ext cx="409651" cy="40965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783080" y="286207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B3D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版数は5箇所で統一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1783080" y="3300984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3A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刻印漏れを防ぐ（内部/タイトル/バッジ/サブ/edition）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4663440" y="2697480"/>
            <a:ext cx="3931920" cy="1325880"/>
          </a:xfrm>
          <a:prstGeom prst="roundRect">
            <a:avLst>
              <a:gd name="adj" fmla="val 6207"/>
            </a:avLst>
          </a:prstGeom>
          <a:solidFill>
            <a:srgbClr val="FBF1F6"/>
          </a:solidFill>
          <a:ln w="12700">
            <a:solidFill>
              <a:srgbClr val="EAD7E2"/>
            </a:solidFill>
            <a:prstDash val="solid"/>
          </a:ln>
          <a:effectLst>
            <a:outerShdw sx="100000" sy="100000" kx="0" ky="0" algn="bl" rotWithShape="0" blurRad="114300" dist="38100" dir="5400000">
              <a:srgbClr val="6E2A4C">
                <a:alpha val="1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5029200" y="2990088"/>
            <a:ext cx="731520" cy="731520"/>
          </a:xfrm>
          <a:prstGeom prst="oval">
            <a:avLst/>
          </a:prstGeom>
          <a:solidFill>
            <a:srgbClr val="9B3D6E"/>
          </a:solidFill>
          <a:ln/>
          <a:effectLst>
            <a:outerShdw sx="100000" sy="100000" kx="0" ky="0" algn="bl" rotWithShape="0" blurRad="114300" dist="38100" dir="5400000">
              <a:srgbClr val="6E2A4C">
                <a:alpha val="18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0134" y="3151022"/>
            <a:ext cx="409651" cy="409651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897880" y="286207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B3D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AIは任意・鍵は端末のみ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5897880" y="3300984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3A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無くても動く。送信先を限定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457200" y="4828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6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うさうさ開発フロア PRO ｜ SHIFT AI 勉強会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7955280" y="482803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6F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9B3D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108960"/>
            <a:ext cx="2743200" cy="2743200"/>
          </a:xfrm>
          <a:prstGeom prst="oval">
            <a:avLst/>
          </a:prstGeom>
          <a:solidFill>
            <a:srgbClr val="6E2A4C"/>
          </a:solidFill>
          <a:ln/>
        </p:spPr>
      </p:sp>
      <p:sp>
        <p:nvSpPr>
          <p:cNvPr id="3" name="Shape 1"/>
          <p:cNvSpPr/>
          <p:nvPr/>
        </p:nvSpPr>
        <p:spPr>
          <a:xfrm>
            <a:off x="7086600" y="594360"/>
            <a:ext cx="1188720" cy="1188720"/>
          </a:xfrm>
          <a:prstGeom prst="oval">
            <a:avLst/>
          </a:prstGeom>
          <a:solidFill>
            <a:srgbClr val="C9A24E"/>
          </a:solidFill>
          <a:ln/>
          <a:effectLst>
            <a:outerShdw sx="100000" sy="100000" kx="0" ky="0" algn="bl" rotWithShape="0" blurRad="114300" dist="38100" dir="5400000">
              <a:srgbClr val="6E2A4C">
                <a:alpha val="18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48118" y="855878"/>
            <a:ext cx="665683" cy="66568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400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まとめ ＆ 次の一歩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640080" y="1645920"/>
            <a:ext cx="6766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状態は“モデル1つ”に集約する＝設計の背骨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画面・書き出し・AIは、同じモデルを読むだけ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要件とテストの紐付けを、書きながら可視化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次の一歩：自分の小さなツールで“M駆動”を試す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42976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7C9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面白きこともなき世を面白く 🐰🦺  ｜  うさうさ先生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B3D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進行タイムテーブル（目安 45分）</a:t>
            </a:r>
            <a:endParaRPr lang="en-US" sz="2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804672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914400"/>
                <a:gridCol w="58521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経過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3D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分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3D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内容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3D6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E3A5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0:00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E3A5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E3A5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導入・ゴール共有（S1-2）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E3A5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0:05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E3A5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E3A5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ツール概要・なぜ設計（S3-4）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E3A5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0:11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E3A5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E3A5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アーキ＆ソースの肝①〜④（S5-9）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E3A5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0:21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E3A5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12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E3A5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ハンズオン（S10）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E3A5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0:33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E3A5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E3A5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設計の原則（S11）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E3A5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0:39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E3A5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E3A5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まとめ・宿題（S12）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E3A5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0:43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E3A5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E3A5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Q&amp;A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4434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ハンズオンが押したら S10 の手順③④はデモで巻き取り、S11 を短縮。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57200" y="4828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6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うさうさ開発フロア PRO ｜ SHIFT AI 勉強会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7955280" y="482803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6F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/ 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B3D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想定Q&amp;A（講師用カンペ）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8046720" cy="603504"/>
          </a:xfrm>
          <a:prstGeom prst="roundRect">
            <a:avLst>
              <a:gd name="adj" fmla="val 13636"/>
            </a:avLst>
          </a:prstGeom>
          <a:solidFill>
            <a:srgbClr val="FBF1F6"/>
          </a:solidFill>
          <a:ln w="12700">
            <a:solidFill>
              <a:srgbClr val="EAD7E2"/>
            </a:solidFill>
            <a:prstDash val="solid"/>
          </a:ln>
          <a:effectLst>
            <a:outerShdw sx="100000" sy="100000" kx="0" ky="0" algn="bl" rotWithShape="0" blurRad="114300" dist="38100" dir="5400000">
              <a:srgbClr val="6E2A4C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216152"/>
            <a:ext cx="457200" cy="457200"/>
          </a:xfrm>
          <a:prstGeom prst="oval">
            <a:avLst/>
          </a:prstGeom>
          <a:solidFill>
            <a:srgbClr val="C2455C"/>
          </a:solidFill>
          <a:ln/>
          <a:effectLst>
            <a:outerShdw sx="100000" sy="100000" kx="0" ky="0" algn="bl" rotWithShape="0" blurRad="114300" dist="38100" dir="5400000">
              <a:srgbClr val="6E2A4C">
                <a:alpha val="1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1316736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197864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B3D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Q. AIが無いと使えない？  </a:t>
            </a:r>
            <a:pPr indent="0" marL="0">
              <a:buNone/>
            </a:pPr>
            <a:r>
              <a:rPr lang="en-US" sz="1150" dirty="0">
                <a:solidFill>
                  <a:srgbClr val="5E3A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A. いいえ。全機能オフライン動作。AIは下書き支援の“任意”。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48640" y="1819656"/>
            <a:ext cx="8046720" cy="603504"/>
          </a:xfrm>
          <a:prstGeom prst="roundRect">
            <a:avLst>
              <a:gd name="adj" fmla="val 13636"/>
            </a:avLst>
          </a:prstGeom>
          <a:solidFill>
            <a:srgbClr val="FBF1F6"/>
          </a:solidFill>
          <a:ln w="12700">
            <a:solidFill>
              <a:srgbClr val="EAD7E2"/>
            </a:solidFill>
            <a:prstDash val="solid"/>
          </a:ln>
          <a:effectLst>
            <a:outerShdw sx="100000" sy="100000" kx="0" ky="0" algn="bl" rotWithShape="0" blurRad="114300" dist="38100" dir="5400000">
              <a:srgbClr val="6E2A4C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22960" y="1892808"/>
            <a:ext cx="457200" cy="457200"/>
          </a:xfrm>
          <a:prstGeom prst="oval">
            <a:avLst/>
          </a:prstGeom>
          <a:solidFill>
            <a:srgbClr val="C9A24E"/>
          </a:solidFill>
          <a:ln/>
          <a:effectLst>
            <a:outerShdw sx="100000" sy="100000" kx="0" ky="0" algn="bl" rotWithShape="0" blurRad="114300" dist="38100" dir="5400000">
              <a:srgbClr val="6E2A4C">
                <a:alpha val="18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" y="1993392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18745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B3D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Q. なぜReact等を使わない？  </a:t>
            </a:r>
            <a:pPr indent="0" marL="0">
              <a:buNone/>
            </a:pPr>
            <a:r>
              <a:rPr lang="en-US" sz="1150" dirty="0">
                <a:solidFill>
                  <a:srgbClr val="5E3A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A. 学習用・配布容易・ゼロ依存が狙い。考え方（M駆動）は同じ。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548640" y="2496312"/>
            <a:ext cx="8046720" cy="603504"/>
          </a:xfrm>
          <a:prstGeom prst="roundRect">
            <a:avLst>
              <a:gd name="adj" fmla="val 13636"/>
            </a:avLst>
          </a:prstGeom>
          <a:solidFill>
            <a:srgbClr val="FBF1F6"/>
          </a:solidFill>
          <a:ln w="12700">
            <a:solidFill>
              <a:srgbClr val="EAD7E2"/>
            </a:solidFill>
            <a:prstDash val="solid"/>
          </a:ln>
          <a:effectLst>
            <a:outerShdw sx="100000" sy="100000" kx="0" ky="0" algn="bl" rotWithShape="0" blurRad="114300" dist="38100" dir="5400000">
              <a:srgbClr val="6E2A4C">
                <a:alpha val="1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822960" y="2569464"/>
            <a:ext cx="457200" cy="457200"/>
          </a:xfrm>
          <a:prstGeom prst="oval">
            <a:avLst/>
          </a:prstGeom>
          <a:solidFill>
            <a:srgbClr val="C2455C"/>
          </a:solidFill>
          <a:ln/>
          <a:effectLst>
            <a:outerShdw sx="100000" sy="100000" kx="0" ky="0" algn="bl" rotWithShape="0" blurRad="114300" dist="38100" dir="5400000">
              <a:srgbClr val="6E2A4C">
                <a:alpha val="18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" y="2670048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17320" y="2551176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B3D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Q. 対応FRはどう書く？  </a:t>
            </a:r>
            <a:pPr indent="0" marL="0">
              <a:buNone/>
            </a:pPr>
            <a:r>
              <a:rPr lang="en-US" sz="1150" dirty="0">
                <a:solidFill>
                  <a:srgbClr val="5E3A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A. テスト観点に FR-01,02 のように番号を書くと紐づく。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548640" y="3172968"/>
            <a:ext cx="8046720" cy="603504"/>
          </a:xfrm>
          <a:prstGeom prst="roundRect">
            <a:avLst>
              <a:gd name="adj" fmla="val 13636"/>
            </a:avLst>
          </a:prstGeom>
          <a:solidFill>
            <a:srgbClr val="FBF1F6"/>
          </a:solidFill>
          <a:ln w="12700">
            <a:solidFill>
              <a:srgbClr val="EAD7E2"/>
            </a:solidFill>
            <a:prstDash val="solid"/>
          </a:ln>
          <a:effectLst>
            <a:outerShdw sx="100000" sy="100000" kx="0" ky="0" algn="bl" rotWithShape="0" blurRad="114300" dist="38100" dir="5400000">
              <a:srgbClr val="6E2A4C">
                <a:alpha val="18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822960" y="3246120"/>
            <a:ext cx="457200" cy="457200"/>
          </a:xfrm>
          <a:prstGeom prst="oval">
            <a:avLst/>
          </a:prstGeom>
          <a:solidFill>
            <a:srgbClr val="C9A24E"/>
          </a:solidFill>
          <a:ln/>
          <a:effectLst>
            <a:outerShdw sx="100000" sy="100000" kx="0" ky="0" algn="bl" rotWithShape="0" blurRad="114300" dist="38100" dir="5400000">
              <a:srgbClr val="6E2A4C">
                <a:alpha val="18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44" y="3346704"/>
            <a:ext cx="256032" cy="25603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17320" y="3227832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B3D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Q. データはどこに保存？  </a:t>
            </a:r>
            <a:pPr indent="0" marL="0">
              <a:buNone/>
            </a:pPr>
            <a:r>
              <a:rPr lang="en-US" sz="1150" dirty="0">
                <a:solidFill>
                  <a:srgbClr val="5E3A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A. すべて端末のブラウザ内（localStorage/メモリ）。外部送信なし。</a:t>
            </a:r>
            <a:endParaRPr lang="en-US" sz="1150" dirty="0"/>
          </a:p>
        </p:txBody>
      </p:sp>
      <p:sp>
        <p:nvSpPr>
          <p:cNvPr id="19" name="Shape 13"/>
          <p:cNvSpPr/>
          <p:nvPr/>
        </p:nvSpPr>
        <p:spPr>
          <a:xfrm>
            <a:off x="548640" y="3849624"/>
            <a:ext cx="8046720" cy="603504"/>
          </a:xfrm>
          <a:prstGeom prst="roundRect">
            <a:avLst>
              <a:gd name="adj" fmla="val 13636"/>
            </a:avLst>
          </a:prstGeom>
          <a:solidFill>
            <a:srgbClr val="FBF1F6"/>
          </a:solidFill>
          <a:ln w="12700">
            <a:solidFill>
              <a:srgbClr val="EAD7E2"/>
            </a:solidFill>
            <a:prstDash val="solid"/>
          </a:ln>
          <a:effectLst>
            <a:outerShdw sx="100000" sy="100000" kx="0" ky="0" algn="bl" rotWithShape="0" blurRad="114300" dist="38100" dir="5400000">
              <a:srgbClr val="6E2A4C">
                <a:alpha val="18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822960" y="3922776"/>
            <a:ext cx="457200" cy="457200"/>
          </a:xfrm>
          <a:prstGeom prst="oval">
            <a:avLst/>
          </a:prstGeom>
          <a:solidFill>
            <a:srgbClr val="C2455C"/>
          </a:solidFill>
          <a:ln/>
          <a:effectLst>
            <a:outerShdw sx="100000" sy="100000" kx="0" ky="0" algn="bl" rotWithShape="0" blurRad="114300" dist="38100" dir="5400000">
              <a:srgbClr val="6E2A4C">
                <a:alpha val="18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544" y="4023360"/>
            <a:ext cx="256032" cy="25603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417320" y="3904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B3D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Q. docx/xlsxはなぜオンライン時のみ？  </a:t>
            </a:r>
            <a:pPr indent="0" marL="0">
              <a:buNone/>
            </a:pPr>
            <a:r>
              <a:rPr lang="en-US" sz="1150" dirty="0">
                <a:solidFill>
                  <a:srgbClr val="5E3A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A. 本物のOOXML生成にライブラリを都度取得するため。</a:t>
            </a:r>
            <a:endParaRPr lang="en-US" sz="1150" dirty="0"/>
          </a:p>
        </p:txBody>
      </p:sp>
      <p:sp>
        <p:nvSpPr>
          <p:cNvPr id="23" name="Text 16"/>
          <p:cNvSpPr/>
          <p:nvPr/>
        </p:nvSpPr>
        <p:spPr>
          <a:xfrm>
            <a:off x="457200" y="4828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6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うさうさ開発フロア PRO ｜ SHIFT AI 勉強会</a:t>
            </a:r>
            <a:endParaRPr lang="en-US" sz="900" dirty="0"/>
          </a:p>
        </p:txBody>
      </p:sp>
      <p:sp>
        <p:nvSpPr>
          <p:cNvPr id="24" name="Text 17"/>
          <p:cNvSpPr/>
          <p:nvPr/>
        </p:nvSpPr>
        <p:spPr>
          <a:xfrm>
            <a:off x="7955280" y="482803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6F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/ 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SHIFT AI 勉強会 — うさうさ開発フロア PRO ソースコード読解</dc:title>
  <dc:subject>PptxGenJS Presentation</dc:subject>
  <dc:creator>うさうさ先生</dc:creator>
  <cp:lastModifiedBy>うさうさ先生</cp:lastModifiedBy>
  <cp:revision>1</cp:revision>
  <dcterms:created xsi:type="dcterms:W3CDTF">2026-06-13T02:08:47Z</dcterms:created>
  <dcterms:modified xsi:type="dcterms:W3CDTF">2026-06-13T02:08:47Z</dcterms:modified>
</cp:coreProperties>
</file>