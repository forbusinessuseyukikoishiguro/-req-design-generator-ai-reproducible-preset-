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B3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05840"/>
            <a:ext cx="2926080" cy="2926080"/>
          </a:xfrm>
          <a:prstGeom prst="oval">
            <a:avLst/>
          </a:prstGeom>
          <a:solidFill>
            <a:srgbClr val="6E2A4C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3383280"/>
            <a:ext cx="2377440" cy="2377440"/>
          </a:xfrm>
          <a:prstGeom prst="oval">
            <a:avLst/>
          </a:prstGeom>
          <a:solidFill>
            <a:srgbClr val="6E2A4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685800"/>
            <a:ext cx="1371600" cy="137160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987552"/>
            <a:ext cx="768096" cy="7680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7C9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SHIFT AI 勉強会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単一HTMLで“設計書ジェネレーター”を読み解く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566928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うさうさ開発フロア PRO のソースコードから学ぶ（v2.0.0 PRO）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C9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講師：うさうさ先生 🐰🦺   </a:t>
            </a:r>
            <a:pPr indent="0" marL="0">
              <a:buNone/>
            </a:pPr>
            <a:r>
              <a:rPr lang="en-US" sz="1200" i="1" dirty="0">
                <a:solidFill>
                  <a:srgbClr val="E7C9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面白きこともなき世を面白く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【受講生用】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今日のゴールと流れ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252728"/>
            <a:ext cx="731520" cy="7315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1413662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261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5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74520" y="16184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“単一HTMLツール”の設計の型を、ソースから読み取れるようになる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395728"/>
            <a:ext cx="731520" cy="73152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614" y="2556662"/>
            <a:ext cx="409651" cy="4096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2404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5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題材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874520" y="27614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埋めるだけで要件定義書＋詳細設計書ができるジェネレーター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429000"/>
            <a:ext cx="8046720" cy="960120"/>
          </a:xfrm>
          <a:prstGeom prst="roundRect">
            <a:avLst>
              <a:gd name="adj" fmla="val 8571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538728"/>
            <a:ext cx="731520" cy="7315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3699662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3547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5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持ち帰り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874520" y="390448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自分のツールでも再現できる勘所（モデル駆動・書き出し・AI連携）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このツールは何？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4800600" cy="3200400"/>
          </a:xfrm>
          <a:prstGeom prst="roundRect">
            <a:avLst>
              <a:gd name="adj" fmla="val 2571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埋めるだけで「設計書」ができる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251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左フォームに入力 → 右に文書が即組み上がる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要件定義書 兼 詳細設計書（PART I〜III）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 1枚・ゼロ依存・オフライン動作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29種のプリセット／書き出し9形式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AIは“任意”。無くても全機能動く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1143000"/>
            <a:ext cx="3017520" cy="3200400"/>
          </a:xfrm>
          <a:prstGeom prst="roundRect">
            <a:avLst>
              <a:gd name="adj" fmla="val 2727"/>
            </a:avLst>
          </a:prstGeom>
          <a:solidFill>
            <a:srgbClr val="9B3D6E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0" y="1463040"/>
            <a:ext cx="1005840" cy="100584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4965" y="1684325"/>
            <a:ext cx="563270" cy="5632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1500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 → 設計書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15000" y="3154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“書く心理的ハードル”を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下げるための道具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なぜ要件定義・設計？ 🍜 で考える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0320" cy="2331720"/>
          </a:xfrm>
          <a:prstGeom prst="roundRect">
            <a:avLst>
              <a:gd name="adj" fmla="val 3529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71600" y="1508760"/>
            <a:ext cx="914400" cy="91440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70992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要件定義 = 注文票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何を・どれくらい・いつまでに欲しいか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4408" y="1234440"/>
            <a:ext cx="2560320" cy="2331720"/>
          </a:xfrm>
          <a:prstGeom prst="roundRect">
            <a:avLst>
              <a:gd name="adj" fmla="val 3529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87368" y="1508760"/>
            <a:ext cx="914400" cy="914400"/>
          </a:xfrm>
          <a:prstGeom prst="oval">
            <a:avLst/>
          </a:prstGeom>
          <a:solidFill>
            <a:srgbClr val="C2455C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170992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1568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基本設計 = 店の動線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01568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厨房・カウンターをどう配置するか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0176" y="1234440"/>
            <a:ext cx="2560320" cy="2331720"/>
          </a:xfrm>
          <a:prstGeom prst="roundRect">
            <a:avLst>
              <a:gd name="adj" fmla="val 3529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03136" y="1508760"/>
            <a:ext cx="914400" cy="91440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304" y="170992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17336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詳細設計 = レシピ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17336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誰が作っても同じ味になる手順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※このたとえは正確ではありません（入口の理解用）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注文票（要件）が曖昧だと、厨房（実装）が優秀でも違う料理が出てきます。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全体アーキテクチャ：モデル駆動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入力フォーム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66160" y="1828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9B3D6E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 M（状態1つ）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28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プレビュー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2286000"/>
            <a:ext cx="914400" cy="0"/>
          </a:xfrm>
          <a:prstGeom prst="line">
            <a:avLst/>
          </a:prstGeom>
          <a:noFill/>
          <a:ln w="31750">
            <a:solidFill>
              <a:srgbClr val="C9A24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77840" y="2286000"/>
            <a:ext cx="914400" cy="0"/>
          </a:xfrm>
          <a:prstGeom prst="line">
            <a:avLst/>
          </a:prstGeom>
          <a:noFill/>
          <a:ln w="31750">
            <a:solidFill>
              <a:srgbClr val="C9A24E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46888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入力で更新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4068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再描画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32461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5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書き出し各形式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743200"/>
            <a:ext cx="0" cy="502920"/>
          </a:xfrm>
          <a:prstGeom prst="line">
            <a:avLst/>
          </a:prstGeom>
          <a:noFill/>
          <a:ln w="31750">
            <a:solidFill>
              <a:srgbClr val="C9A24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0080" y="40690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素のJavaScript・ライブラリ非依存（ビルドレス）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状態は「モデルM」1つに集約＝唯一の真実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イベント委譲で入力を受け、M更新→再描画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ソースの肝① モデル駆動レンダリング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691640"/>
          </a:xfrm>
          <a:prstGeom prst="roundRect">
            <a:avLst>
              <a:gd name="adj" fmla="val 4865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1732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入力イベントを #form 直下で委譲受信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onInput(e){  M[key] = e.target.value;  renderDoc();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モデルから文書・トレース・各形式を生成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toMarkdown(M);  computeTrace(M);  genDocx(M);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画面操作と書き出しが、同じ M を読むだけ＝ズレない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再描画は renderForm / renderDoc に一本化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ソースの肝② トレーサビリティ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206240" cy="2926080"/>
          </a:xfrm>
          <a:prstGeom prst="roundRect">
            <a:avLst>
              <a:gd name="adj" fmla="val 2813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71600"/>
            <a:ext cx="822960" cy="82296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5526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 ↔ テストの紐付けを判定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computeTrace() が返す：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total（FR総数）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covered（紐付けあり）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uncovered（漏れ）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unknownRefs（存在しない参照）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937760" y="1188720"/>
            <a:ext cx="3657600" cy="2926080"/>
          </a:xfrm>
          <a:prstGeom prst="roundRect">
            <a:avLst>
              <a:gd name="adj" fmla="val 2813"/>
            </a:avLst>
          </a:prstGeom>
          <a:solidFill>
            <a:srgbClr val="9B3D6E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1206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帯の色で“気づける”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12080" y="192024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56C596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3D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6件中6件カバー（緑）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12080" y="2697480"/>
            <a:ext cx="3108960" cy="640080"/>
          </a:xfrm>
          <a:prstGeom prst="roundRect">
            <a:avLst>
              <a:gd name="adj" fmla="val 8571"/>
            </a:avLst>
          </a:prstGeom>
          <a:solidFill>
            <a:srgbClr val="F2C94C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2697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43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△ 未カバー / 不正参照あり（黄）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2064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レビューで一番見落とす“要件とテストのズレ”を、書きながら潰せる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ソースの肝③ 採番ロジック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371600"/>
          </a:xfrm>
          <a:prstGeom prst="roundRect">
            <a:avLst>
              <a:gd name="adj" fmla="val 6000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renumberFR(): 旧FR番号 → 新連番 をマップ化し、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テスト観点の「対応FR」も置換（未知の参照は保持）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revNext(): 末尾の数値を+1（v1.0→v1.1, v2.9→v2.10）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7260" y="3086100"/>
            <a:ext cx="777240" cy="777240"/>
          </a:xfrm>
          <a:prstGeom prst="oval">
            <a:avLst/>
          </a:prstGeom>
          <a:solidFill>
            <a:srgbClr val="C2455C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3257093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 / 手動をボタンで切替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82880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追加で次番号が入る。手でも直せる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278892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52060" y="3086100"/>
            <a:ext cx="777240" cy="77724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053" y="3257093"/>
            <a:ext cx="435254" cy="435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43600" y="2971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振り直しでテスト参照も追従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943600" y="3520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紐付けが壊れない＝トレーサビリティ維持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ソースの肝④ 多形式書き出し＆AI連携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206240" cy="2926080"/>
          </a:xfrm>
          <a:prstGeom prst="roundRect">
            <a:avLst>
              <a:gd name="adj" fmla="val 2813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71600"/>
            <a:ext cx="822960" cy="82296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15526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9形式に書き出し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md / txt / csv（RFC4180・BOM）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 / 本物のdocx / xlsx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JSON（schema usausa.reqdesign/v1）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AI再現プロンプト・印刷/PDF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37760" y="1188720"/>
            <a:ext cx="3657600" cy="2926080"/>
          </a:xfrm>
          <a:prstGeom prst="roundRect">
            <a:avLst>
              <a:gd name="adj" fmla="val 2813"/>
            </a:avLst>
          </a:prstGeom>
          <a:solidFill>
            <a:srgbClr val="9B3D6E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57800" y="1417320"/>
            <a:ext cx="822960" cy="82296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851" y="1598371"/>
            <a:ext cx="460858" cy="4608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0" y="1600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AIは任意・送信先を限定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212080" y="24231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送信先は api.anthropic.com のみ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 claude-sonnet-4-6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鍵は端末のみ・出力に含めない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2D9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未設定でも全機能オフライン動作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ハンズオン：さわってみよう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463040"/>
          </a:xfrm>
          <a:prstGeom prst="roundRect">
            <a:avLst>
              <a:gd name="adj" fmla="val 5625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173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ブラウザの開発者ツール（Console）で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 = window.__USAUSA_DEVFLOOR__;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E2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S.applyPreset("artifact"); S.toMarkdown(); S.computeTrace();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25880" y="2971800"/>
            <a:ext cx="502920" cy="5029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258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プリセットを選ぶ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2971800"/>
            <a:ext cx="502920" cy="50292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78608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FRをGWTで埋める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85816" y="2971800"/>
            <a:ext cx="502920" cy="5029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85816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8576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対応FRでトレース帯を緑に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15784" y="2971800"/>
            <a:ext cx="502920" cy="50292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15784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38544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docx/AIプロンプトで書き出す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設計のこだわり（再現のヒント）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481328"/>
            <a:ext cx="731520" cy="7315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1642262"/>
            <a:ext cx="409651" cy="4096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353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ゼロ依存・オフライン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783080" y="179222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配布容易・監査容易。docx/xlsxのみ都度取得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0" y="1481328"/>
            <a:ext cx="731520" cy="731520"/>
          </a:xfrm>
          <a:prstGeom prst="oval">
            <a:avLst/>
          </a:prstGeom>
          <a:solidFill>
            <a:srgbClr val="C2455C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134" y="1642262"/>
            <a:ext cx="409651" cy="4096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97880" y="1353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事実と所感を分ける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897880" y="179222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※不正確ラベル・役職名・捏造statなし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269748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2990088"/>
            <a:ext cx="731520" cy="73152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34" y="3151022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版数は5箇所で統一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783080" y="330098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刻印漏れを防ぐ（内部/タイトル/バッジ/サブ/edition）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63440" y="2697480"/>
            <a:ext cx="3931920" cy="1325880"/>
          </a:xfrm>
          <a:prstGeom prst="roundRect">
            <a:avLst>
              <a:gd name="adj" fmla="val 6207"/>
            </a:avLst>
          </a:prstGeom>
          <a:solidFill>
            <a:srgbClr val="FBF1F6"/>
          </a:solidFill>
          <a:ln w="12700">
            <a:solidFill>
              <a:srgbClr val="EAD7E2"/>
            </a:solidFill>
            <a:prstDash val="solid"/>
          </a:ln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29200" y="2990088"/>
            <a:ext cx="731520" cy="731520"/>
          </a:xfrm>
          <a:prstGeom prst="oval">
            <a:avLst/>
          </a:prstGeom>
          <a:solidFill>
            <a:srgbClr val="9B3D6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134" y="3151022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9788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3D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AIは任意・鍵は端末のみ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897880" y="3300984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3A5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無くても動く。送信先を限定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うさうさ開発フロア PRO ｜ SHIFT AI 勉強会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95528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6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B3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108960"/>
            <a:ext cx="2743200" cy="2743200"/>
          </a:xfrm>
          <a:prstGeom prst="oval">
            <a:avLst/>
          </a:prstGeom>
          <a:solidFill>
            <a:srgbClr val="6E2A4C"/>
          </a:solidFill>
          <a:ln/>
        </p:spPr>
      </p:sp>
      <p:sp>
        <p:nvSpPr>
          <p:cNvPr id="3" name="Shape 1"/>
          <p:cNvSpPr/>
          <p:nvPr/>
        </p:nvSpPr>
        <p:spPr>
          <a:xfrm>
            <a:off x="7086600" y="594360"/>
            <a:ext cx="1188720" cy="1188720"/>
          </a:xfrm>
          <a:prstGeom prst="oval">
            <a:avLst/>
          </a:prstGeom>
          <a:solidFill>
            <a:srgbClr val="C9A24E"/>
          </a:solidFill>
          <a:ln/>
          <a:effectLst>
            <a:outerShdw sx="100000" sy="100000" kx="0" ky="0" algn="bl" rotWithShape="0" blurRad="114300" dist="38100" dir="5400000">
              <a:srgbClr val="6E2A4C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8118" y="855878"/>
            <a:ext cx="665683" cy="665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 ＆ 次の一歩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状態は“モデル1つ”に集約する＝設計の背骨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画面・書き出し・AIは、同じモデルを読むだけ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要件とテストの紐付けを、書きながら可視化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次の一歩：自分の小さなツールで“M駆動”を試す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C9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面白きこともなき世を面白く 🐰🦺  ｜  うさうさ先生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SHIFT AI 勉強会 — うさうさ開発フロア PRO ソースコード読解</dc:title>
  <dc:subject>PptxGenJS Presentation</dc:subject>
  <dc:creator>うさうさ先生</dc:creator>
  <cp:lastModifiedBy>うさうさ先生</cp:lastModifiedBy>
  <cp:revision>1</cp:revision>
  <dcterms:created xsi:type="dcterms:W3CDTF">2026-06-13T02:08:46Z</dcterms:created>
  <dcterms:modified xsi:type="dcterms:W3CDTF">2026-06-13T02:08:46Z</dcterms:modified>
</cp:coreProperties>
</file>